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ora Medium"/>
      <p:regular r:id="rId17"/>
      <p:bold r:id="rId18"/>
      <p:italic r:id="rId19"/>
      <p:boldItalic r:id="rId20"/>
    </p:embeddedFon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Lora SemiBold"/>
      <p:regular r:id="rId33"/>
      <p:bold r:id="rId34"/>
      <p:italic r:id="rId35"/>
      <p:boldItalic r:id="rId36"/>
    </p:embeddedFont>
    <p:embeddedFont>
      <p:font typeface="Lora"/>
      <p:regular r:id="rId37"/>
      <p:bold r:id="rId38"/>
      <p:italic r:id="rId39"/>
      <p:boldItalic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681DD6-FFC5-472E-9BF4-9A7B38519CFD}">
  <a:tblStyle styleId="{FA681DD6-FFC5-472E-9BF4-9A7B38519C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ora-boldItalic.fntdata"/><Relationship Id="rId20" Type="http://schemas.openxmlformats.org/officeDocument/2006/relationships/font" Target="fonts/LoraMedium-boldItalic.fntdata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font" Target="fonts/Raleway-bold.fntdata"/><Relationship Id="rId44" Type="http://schemas.openxmlformats.org/officeDocument/2006/relationships/font" Target="fonts/RobotoMono-boldItalic.fntdata"/><Relationship Id="rId21" Type="http://schemas.openxmlformats.org/officeDocument/2006/relationships/font" Target="fonts/Raleway-regular.fntdata"/><Relationship Id="rId43" Type="http://schemas.openxmlformats.org/officeDocument/2006/relationships/font" Target="fonts/RobotoMono-italic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Lora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LoraSemiBold-italic.fntdata"/><Relationship Id="rId12" Type="http://schemas.openxmlformats.org/officeDocument/2006/relationships/slide" Target="slides/slide6.xml"/><Relationship Id="rId34" Type="http://schemas.openxmlformats.org/officeDocument/2006/relationships/font" Target="fonts/LoraSemiBold-bold.fntdata"/><Relationship Id="rId15" Type="http://schemas.openxmlformats.org/officeDocument/2006/relationships/slide" Target="slides/slide9.xml"/><Relationship Id="rId37" Type="http://schemas.openxmlformats.org/officeDocument/2006/relationships/font" Target="fonts/Lora-regular.fntdata"/><Relationship Id="rId14" Type="http://schemas.openxmlformats.org/officeDocument/2006/relationships/slide" Target="slides/slide8.xml"/><Relationship Id="rId36" Type="http://schemas.openxmlformats.org/officeDocument/2006/relationships/font" Target="fonts/LoraSemiBold-boldItalic.fntdata"/><Relationship Id="rId17" Type="http://schemas.openxmlformats.org/officeDocument/2006/relationships/font" Target="fonts/LoraMedium-regular.fntdata"/><Relationship Id="rId39" Type="http://schemas.openxmlformats.org/officeDocument/2006/relationships/font" Target="fonts/Lora-italic.fntdata"/><Relationship Id="rId16" Type="http://schemas.openxmlformats.org/officeDocument/2006/relationships/slide" Target="slides/slide10.xml"/><Relationship Id="rId38" Type="http://schemas.openxmlformats.org/officeDocument/2006/relationships/font" Target="fonts/Lora-bold.fntdata"/><Relationship Id="rId19" Type="http://schemas.openxmlformats.org/officeDocument/2006/relationships/font" Target="fonts/LoraMedium-italic.fntdata"/><Relationship Id="rId18" Type="http://schemas.openxmlformats.org/officeDocument/2006/relationships/font" Target="fonts/Lora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9bcb65ef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9bcb65ef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bcb65ef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bcb65ef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bcb65ef8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9bcb65ef8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bcb65ef8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bcb65ef8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9bcb65ef8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9bcb65ef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bcb65ef8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bcb65ef8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bcb65ef8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9bcb65ef8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bcb65ef8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9bcb65ef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bcb65ef8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9bcb65ef8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2139850" y="1606000"/>
            <a:ext cx="4530900" cy="7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2000">
                <a:solidFill>
                  <a:srgbClr val="783F04"/>
                </a:solidFill>
                <a:latin typeface="Lora"/>
                <a:ea typeface="Lora"/>
                <a:cs typeface="Lora"/>
                <a:sym typeface="Lora"/>
              </a:rPr>
              <a:t>Data Analytics Learning Project</a:t>
            </a:r>
            <a:endParaRPr b="0" sz="2000">
              <a:solidFill>
                <a:srgbClr val="783F0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2306650" y="2362300"/>
            <a:ext cx="4197300" cy="6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85200C"/>
                </a:solidFill>
                <a:highlight>
                  <a:schemeClr val="lt2"/>
                </a:highlight>
                <a:latin typeface="Lora"/>
                <a:ea typeface="Lora"/>
                <a:cs typeface="Lora"/>
                <a:sym typeface="Lora"/>
              </a:rPr>
              <a:t>Moja droga w analityce danych</a:t>
            </a:r>
            <a:endParaRPr sz="1800">
              <a:solidFill>
                <a:srgbClr val="85200C"/>
              </a:solidFill>
              <a:highlight>
                <a:schemeClr val="lt2"/>
              </a:highlight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396300" y="4012325"/>
            <a:ext cx="27477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0000"/>
                </a:solidFill>
                <a:latin typeface="Lora Medium"/>
                <a:ea typeface="Lora Medium"/>
                <a:cs typeface="Lora Medium"/>
                <a:sym typeface="Lora Medium"/>
              </a:rPr>
              <a:t>Author</a:t>
            </a:r>
            <a:r>
              <a:rPr lang="ru">
                <a:solidFill>
                  <a:srgbClr val="990000"/>
                </a:solidFill>
                <a:latin typeface="Lora Medium"/>
                <a:ea typeface="Lora Medium"/>
                <a:cs typeface="Lora Medium"/>
                <a:sym typeface="Lora Medium"/>
              </a:rPr>
              <a:t>: Ruslan Hural</a:t>
            </a:r>
            <a:endParaRPr>
              <a:solidFill>
                <a:srgbClr val="990000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990000"/>
                </a:solidFill>
                <a:latin typeface="Lora Medium"/>
                <a:ea typeface="Lora Medium"/>
                <a:cs typeface="Lora Medium"/>
                <a:sym typeface="Lora Medium"/>
              </a:rPr>
              <a:t>Data: 2026</a:t>
            </a:r>
            <a:endParaRPr>
              <a:solidFill>
                <a:srgbClr val="990000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25" y="1350750"/>
            <a:ext cx="9144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8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Cel projektu</a:t>
            </a:r>
            <a:endParaRPr b="0" sz="18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-150" y="2097975"/>
            <a:ext cx="9144000" cy="30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Pokazać proces nauki analityki danych: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jakie tematy zostały przerobione;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jakie narzędzia wykorzystano;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jak wiedza została zastosowana w praktyce.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Połączyć naukę, analizę i wizualizację w jednym projekcie.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Czego się uczyłem</a:t>
            </a:r>
            <a:endParaRPr/>
          </a:p>
        </p:txBody>
      </p:sp>
      <p:graphicFrame>
        <p:nvGraphicFramePr>
          <p:cNvPr id="100" name="Google Shape;100;p15"/>
          <p:cNvGraphicFramePr/>
          <p:nvPr/>
        </p:nvGraphicFramePr>
        <p:xfrm>
          <a:off x="311675" y="124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{FA681DD6-FFC5-472E-9BF4-9A7B38519CFD}</a:tableStyleId>
              </a:tblPr>
              <a:tblGrid>
                <a:gridCol w="2840200"/>
                <a:gridCol w="2840200"/>
                <a:gridCol w="2840200"/>
              </a:tblGrid>
              <a:tr h="35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SQL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06.06.2026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Python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21.07.2026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5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Excel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14.06.2026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Power BI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01.08.2026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64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Advanced Business Analysis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24.08.2026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2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Tableau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6AA84F"/>
                          </a:solidFill>
                        </a:rPr>
                        <a:t>Done</a:t>
                      </a:r>
                      <a:endParaRPr>
                        <a:solidFill>
                          <a:srgbClr val="6AA84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26.08.2026</a:t>
                      </a:r>
                      <a:endParaRPr sz="1200">
                        <a:solidFill>
                          <a:srgbClr val="85200C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2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A/B Testing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155CC"/>
                          </a:solidFill>
                        </a:rPr>
                        <a:t>Plan</a:t>
                      </a:r>
                      <a:endParaRPr>
                        <a:solidFill>
                          <a:srgbClr val="1155C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Statistics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155CC"/>
                          </a:solidFill>
                        </a:rPr>
                        <a:t>Plan</a:t>
                      </a:r>
                      <a:endParaRPr>
                        <a:solidFill>
                          <a:srgbClr val="1155C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23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Pandas</a:t>
                      </a:r>
                      <a:endParaRPr sz="1200"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1155CC"/>
                          </a:solidFill>
                        </a:rPr>
                        <a:t>Plan</a:t>
                      </a:r>
                      <a:endParaRPr>
                        <a:solidFill>
                          <a:srgbClr val="1155CC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311677" y="47782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SemiBold"/>
                <a:ea typeface="Lora SemiBold"/>
                <a:cs typeface="Lora SemiBold"/>
                <a:sym typeface="Lora SemiBold"/>
              </a:rPr>
              <a:t>Czego się uczyłem</a:t>
            </a:r>
            <a:endParaRPr sz="2000">
              <a:solidFill>
                <a:srgbClr val="85200C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Roboto Mono"/>
                <a:ea typeface="Roboto Mono"/>
                <a:cs typeface="Roboto Mono"/>
                <a:sym typeface="Roboto Mono"/>
              </a:rPr>
              <a:t>Certyfikaty</a:t>
            </a:r>
            <a:endParaRPr sz="1000">
              <a:solidFill>
                <a:srgbClr val="F9FAF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" name="Google Shape;107;p16"/>
          <p:cNvGraphicFramePr/>
          <p:nvPr/>
        </p:nvGraphicFramePr>
        <p:xfrm>
          <a:off x="0" y="115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{FA681DD6-FFC5-472E-9BF4-9A7B38519CFD}</a:tableStyleId>
              </a:tblPr>
              <a:tblGrid>
                <a:gridCol w="2194400"/>
                <a:gridCol w="4953925"/>
                <a:gridCol w="1044175"/>
                <a:gridCol w="951500"/>
              </a:tblGrid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SQL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Kurs SQL od podstaw | MySQL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06.06.2026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Medium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Excel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Excel - praktyczny kurs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11.06.2026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Basic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Excel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Kurs Microsoft Excel </a:t>
                      </a: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średniozaawansowany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14.06.2026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Medium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Python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Python 3 od Podstaw do Eksperta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21.07.2026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Basic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Power BI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MIcrosoft Power BI - zostań Mistrzem Power BI Desktop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01.08.2026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Medium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Business Analysis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Certified Business Analysis Professional Exam Preparation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24.08.2026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Medium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Tableau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Tableau 10 A-Z( Wersja Polska)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26.08.2026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Medium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8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 SemiBold"/>
                          <a:ea typeface="Lora SemiBold"/>
                          <a:cs typeface="Lora SemiBold"/>
                          <a:sym typeface="Lora SemiBold"/>
                        </a:rPr>
                        <a:t>Python</a:t>
                      </a:r>
                      <a:endParaRPr>
                        <a:solidFill>
                          <a:srgbClr val="85200C"/>
                        </a:solidFill>
                        <a:latin typeface="Lora SemiBold"/>
                        <a:ea typeface="Lora SemiBold"/>
                        <a:cs typeface="Lora SemiBold"/>
                        <a:sym typeface="Lora SemiBold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37413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rgbClr val="85200C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Pandas i Python w praktyce: efektywna Analiza Danych</a:t>
                      </a:r>
                      <a:endParaRPr>
                        <a:solidFill>
                          <a:srgbClr val="85200C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31.08.2026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85200C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Basic</a:t>
                      </a:r>
                      <a:endParaRPr sz="1200">
                        <a:solidFill>
                          <a:srgbClr val="85200C"/>
                        </a:solidFill>
                        <a:latin typeface="Lora Medium"/>
                        <a:ea typeface="Lora Medium"/>
                        <a:cs typeface="Lora Medium"/>
                        <a:sym typeface="Lora Medium"/>
                      </a:endParaRPr>
                    </a:p>
                  </a:txBody>
                  <a:tcPr marT="19050" marB="19050" marR="76200" marL="76200" anchor="ctr">
                    <a:lnL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97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1500" y="0"/>
            <a:ext cx="9144000" cy="7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85200C"/>
                </a:solidFill>
                <a:latin typeface="Lora SemiBold"/>
                <a:ea typeface="Lora SemiBold"/>
                <a:cs typeface="Lora SemiBold"/>
                <a:sym typeface="Lora SemiBold"/>
              </a:rPr>
              <a:t>Certyfikaty</a:t>
            </a:r>
            <a:endParaRPr sz="2100">
              <a:solidFill>
                <a:srgbClr val="85200C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0" y="0"/>
            <a:ext cx="91440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30480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6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Baza danych SQL</a:t>
            </a:r>
            <a:endParaRPr b="0" sz="16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0" y="1037225"/>
            <a:ext cx="2671200" cy="4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 SemiBold"/>
                <a:ea typeface="Lora SemiBold"/>
                <a:cs typeface="Lora SemiBold"/>
                <a:sym typeface="Lora SemiBold"/>
              </a:rPr>
              <a:t>Tabele:</a:t>
            </a:r>
            <a:endParaRPr>
              <a:solidFill>
                <a:srgbClr val="85200C"/>
              </a:solidFill>
              <a:latin typeface="Lora SemiBold"/>
              <a:ea typeface="Lora SemiBold"/>
              <a:cs typeface="Lora SemiBold"/>
              <a:sym typeface="Lora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Topics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Skills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Progress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Certificates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Time Tracker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 SemiBold"/>
                <a:ea typeface="Lora SemiBold"/>
                <a:cs typeface="Lora SemiBold"/>
                <a:sym typeface="Lora SemiBold"/>
              </a:rPr>
              <a:t>Użyto:</a:t>
            </a:r>
            <a:endParaRPr>
              <a:solidFill>
                <a:srgbClr val="85200C"/>
              </a:solidFill>
              <a:latin typeface="Lora SemiBold"/>
              <a:ea typeface="Lora SemiBold"/>
              <a:cs typeface="Lora SemiBold"/>
              <a:sym typeface="Lora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CREATE, INSERT, SELECT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JOIN, GROUP BY, COUNT, SUM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LEFT JOIN</a:t>
            </a:r>
            <a:endParaRPr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85200C"/>
              </a:solidFill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000" y="1992425"/>
            <a:ext cx="6550001" cy="31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0" y="0"/>
            <a:ext cx="91440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6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Power BI Dashboard</a:t>
            </a:r>
            <a:endParaRPr b="0" sz="16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0" y="818500"/>
            <a:ext cx="2205600" cy="3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Utworzono dashboard analityczny.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Wizualizacje: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Topics by Status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Certificates by Level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Hours by Topic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Hours by Day and Type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Karty KPI: Total Topics, Total Hours</a:t>
            </a:r>
            <a:endParaRPr sz="11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405" y="1288800"/>
            <a:ext cx="6865596" cy="38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0" y="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Tableau Dashboard</a:t>
            </a:r>
            <a:endParaRPr b="0"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0" y="535200"/>
            <a:ext cx="3063300" cy="46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Utworzono dashboard w Tableau Desktop.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Wykresy: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Hours by Topic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Topics by Status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Certificates by Level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Skonfigurowano relacje między tabelami.</a:t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300" y="301008"/>
            <a:ext cx="6080700" cy="4842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0" y="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6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Jira Project</a:t>
            </a:r>
            <a:endParaRPr b="0" sz="16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0" y="477850"/>
            <a:ext cx="2225100" cy="46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Utworzono projekt w Jira Software.</a:t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</a:t>
            </a: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Epic</a:t>
            </a: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: Data Basics, BI Tools, Business &amp; Analytics</a:t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Zadania: 9 tematów</a:t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- Statusy: Done / To Do</a:t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5200C"/>
                </a:solidFill>
                <a:latin typeface="Lora"/>
                <a:ea typeface="Lora"/>
                <a:cs typeface="Lora"/>
                <a:sym typeface="Lora"/>
              </a:rPr>
              <a:t>Atlassian Goals użyto do celów strategicznych.</a:t>
            </a:r>
            <a:endParaRPr sz="1200">
              <a:solidFill>
                <a:srgbClr val="85200C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6" name="Google Shape;1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097" y="0"/>
            <a:ext cx="6091904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5326" y="2633975"/>
            <a:ext cx="3115275" cy="250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0" y="490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8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Wnioski</a:t>
            </a:r>
            <a:endParaRPr b="0" sz="18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0" y="1216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Utworzono pełny cykl projektu analitycznego.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Połączono SQL, Power BI, Tableau i Jira.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Dane zostały uporządkowane, przeanalizowane i zwizualizowane.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Projekt pokazuje nie tylko twarde umiejętności, ale też myślenie systemowe.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0" y="479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6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Następne kroki</a:t>
            </a:r>
            <a:endParaRPr b="0" sz="16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Ukończyć tematy: Tableau, A/B Testing, Statistics.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Dodać praktyczny case na realnych danych.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Rozszerzyć bazę SQL.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Pogłębić wizualizacje w Power BI i Tableau.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5200C"/>
                </a:solidFill>
                <a:latin typeface="Lora Medium"/>
                <a:ea typeface="Lora Medium"/>
                <a:cs typeface="Lora Medium"/>
                <a:sym typeface="Lora Medium"/>
              </a:rPr>
              <a:t>- Przygotować portfolio dla pracodawców.</a:t>
            </a:r>
            <a:endParaRPr sz="1400">
              <a:solidFill>
                <a:srgbClr val="85200C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